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0A4F58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3108960" cy="3108960"/>
          </a:xfrm>
          <a:prstGeom prst="ellipse">
            <a:avLst/>
          </a:prstGeom>
          <a:solidFill>
            <a:srgbClr val="0A4F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ID · PS01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234440"/>
            <a:ext cx="8961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Intake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Assistant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Intelligent, safe, and explainable AI triage for clinical environments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703320"/>
            <a:ext cx="1005840" cy="0"/>
          </a:xfrm>
          <a:prstGeom prst="line">
            <a:avLst/>
          </a:prstGeom>
          <a:noFill/>
          <a:ln w="317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Shreyas Nagpure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0A4F58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487375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48188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5394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the time-consuming intake-triage workflow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461772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0A4F58"/>
          </a:solidFill>
          <a:ln/>
        </p:spPr>
      </p:sp>
      <p:sp>
        <p:nvSpPr>
          <p:cNvPr id="15" name="Shape 13"/>
          <p:cNvSpPr/>
          <p:nvPr/>
        </p:nvSpPr>
        <p:spPr>
          <a:xfrm>
            <a:off x="4800600" y="48737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0060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48188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5394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human interpretation errors via structured, rule-based logic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321040" y="461772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0A4F58"/>
          </a:solidFill>
          <a:ln/>
        </p:spPr>
      </p:sp>
      <p:sp>
        <p:nvSpPr>
          <p:cNvPr id="20" name="Shape 18"/>
          <p:cNvSpPr/>
          <p:nvPr/>
        </p:nvSpPr>
        <p:spPr>
          <a:xfrm>
            <a:off x="8549640" y="487375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4964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189720" y="481888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539496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FDE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triage assessment for every patient, every time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“Clinical Bottleneck”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606040"/>
          </a:xfrm>
          <a:prstGeom prst="roundRect">
            <a:avLst>
              <a:gd name="adj" fmla="val 3158"/>
            </a:avLst>
          </a:prstGeom>
          <a:solidFill>
            <a:srgbClr val="F2F8F7"/>
          </a:solidFill>
          <a:ln w="12700">
            <a:solidFill>
              <a:srgbClr val="DCE9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Ambiguity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0896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describe symptoms using fragmented, everyday language — leaving critical detail to interpretation.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429000" cy="2606040"/>
          </a:xfrm>
          <a:prstGeom prst="roundRect">
            <a:avLst>
              <a:gd name="adj" fmla="val 3158"/>
            </a:avLst>
          </a:prstGeom>
          <a:solidFill>
            <a:srgbClr val="F2F8F7"/>
          </a:solidFill>
          <a:ln w="12700">
            <a:solidFill>
              <a:srgbClr val="DCE9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965960"/>
            <a:ext cx="548640" cy="5486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Risk Factor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10896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Misreading a symptom (e.g. confusing acid reflux with cardiac chest pain) creates unacceptable clinical risk and liability.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429000" cy="2606040"/>
          </a:xfrm>
          <a:prstGeom prst="roundRect">
            <a:avLst>
              <a:gd name="adj" fmla="val 3158"/>
            </a:avLst>
          </a:prstGeom>
          <a:solidFill>
            <a:srgbClr val="F2F8F7"/>
          </a:solidFill>
          <a:ln w="12700">
            <a:solidFill>
              <a:srgbClr val="DCE9E7"/>
            </a:solidFill>
            <a:prstDash val="solid"/>
          </a:ln>
          <a:effectLst>
            <a:outerShdw sx="100000" sy="100000" kx="0" ky="0" algn="bl" rotWithShape="0" blurRad="76200" dist="25400" dir="5400000">
              <a:srgbClr val="1B2B2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965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Cognitive Load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10896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staff are overwhelmed; manual intake is slow and prone to inconsistency under pressure.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806"/>
            </a:avLst>
          </a:prstGeom>
          <a:solidFill>
            <a:srgbClr val="013A40"/>
          </a:solidFill>
          <a:ln/>
        </p:spPr>
      </p:sp>
      <p:sp>
        <p:nvSpPr>
          <p:cNvPr id="20" name="Shape 18"/>
          <p:cNvSpPr/>
          <p:nvPr/>
        </p:nvSpPr>
        <p:spPr>
          <a:xfrm>
            <a:off x="914400" y="498348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983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4818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874520" y="509320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“Digital Intake Nurse” — a secure, transparent, and intelligent filter that stands between the patient and clinical staff.</a:t>
            </a:r>
            <a:endParaRPr lang="en-US" sz="16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Intake Triage Assistant  ·  PS01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12648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109728" cy="1234440"/>
          </a:xfrm>
          <a:prstGeom prst="round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NLP Layer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 parses colloquial patient input into structured data points.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9260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82112"/>
            <a:ext cx="612648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182112"/>
            <a:ext cx="109728" cy="1234440"/>
          </a:xfrm>
          <a:prstGeom prst="roundRect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3192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Information Loop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6850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missing critical variables (onset, severity) and asks targeted follow-ups.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4416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672584"/>
            <a:ext cx="6126480" cy="1234440"/>
          </a:xfrm>
          <a:prstGeom prst="roundRect">
            <a:avLst>
              <a:gd name="adj" fmla="val 5926"/>
            </a:avLst>
          </a:prstGeom>
          <a:solidFill>
            <a:srgbClr val="F2F8F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672584"/>
            <a:ext cx="109728" cy="1234440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" y="4837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8097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Rule Engine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517550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hardcoded logic layer strictly maps symptoms to pre-defined triage rules — the AI never guesses.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78040" y="1691640"/>
            <a:ext cx="4343400" cy="4215384"/>
          </a:xfrm>
          <a:prstGeom prst="roundRect">
            <a:avLst>
              <a:gd name="adj" fmla="val 1952"/>
            </a:avLst>
          </a:prstGeom>
          <a:solidFill>
            <a:srgbClr val="013A4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0" y="19659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2468880"/>
            <a:ext cx="3703320" cy="0"/>
          </a:xfrm>
          <a:prstGeom prst="line">
            <a:avLst/>
          </a:prstGeom>
          <a:noFill/>
          <a:ln w="12700">
            <a:solidFill>
              <a:srgbClr val="1E5A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25603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Orchestrator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285292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 GPT-4o / Claude 3.5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7498080" y="3429000"/>
            <a:ext cx="3703320" cy="0"/>
          </a:xfrm>
          <a:prstGeom prst="line">
            <a:avLst/>
          </a:prstGeom>
          <a:noFill/>
          <a:ln w="12700">
            <a:solidFill>
              <a:srgbClr val="1E5A6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0" y="3520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381304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 — strict schema enforcement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498080" y="4389120"/>
            <a:ext cx="3703320" cy="0"/>
          </a:xfrm>
          <a:prstGeom prst="line">
            <a:avLst/>
          </a:prstGeom>
          <a:noFill/>
          <a:ln w="12700">
            <a:solidFill>
              <a:srgbClr val="1E5A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0" y="44805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C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477316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backend + Streamlit UI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Intake Triage Assistant  ·  PS01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Note &amp; Triage Output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9496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DCE9E7"/>
            </a:solidFill>
            <a:prstDash val="solid"/>
          </a:ln>
          <a:effectLst>
            <a:outerShdw sx="100000" sy="100000" kx="0" ky="0" algn="bl" rotWithShape="0" blurRad="101600" dist="38100" dir="5400000">
              <a:srgbClr val="1B2B2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394960" cy="777240"/>
          </a:xfrm>
          <a:prstGeom prst="roundRect">
            <a:avLst>
              <a:gd name="adj" fmla="val 11765"/>
            </a:avLst>
          </a:prstGeom>
          <a:solidFill>
            <a:srgbClr val="013A4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48840"/>
            <a:ext cx="5394960" cy="320040"/>
          </a:xfrm>
          <a:prstGeom prst="rect">
            <a:avLst/>
          </a:prstGeom>
          <a:solidFill>
            <a:srgbClr val="013A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NOTE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21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C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#A-2291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874520"/>
            <a:ext cx="1143000" cy="411480"/>
          </a:xfrm>
          <a:prstGeom prst="roundRect">
            <a:avLst>
              <a:gd name="adj" fmla="val 48889"/>
            </a:avLst>
          </a:prstGeom>
          <a:solidFill>
            <a:srgbClr val="E4572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17720" y="18745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URGENT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743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PATIENT-REPORTED (SUBJECTIVE)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035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2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“Sharp chest pain, started 20 minutes ago, worse on exertion.”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6393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SYSTEM-ESTABLISHED (VERIFIED)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931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2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Onset: acute · Radiation: left arm · Duration: 20 min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354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RULE APPLIED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82803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CP-01 — Acute chest pain → Emergency Dept.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4315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UNKNOWNS FLAGGED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72414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SpO2 not provided — requires manual vitals check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16916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55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166420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Urgency Level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198424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from P1 (Immediate) to P4 (Low), driving downstream routing.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2770632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2743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Data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3063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 separates patient-reported (subjective) input from system-established (verified) facts.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55080" y="3849624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38221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0" y="41422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citation of the specific rule (e.g. Rule CP-01) behind every recommendation.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4928616"/>
            <a:ext cx="502920" cy="5029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55080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040880" y="490118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Unknowns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522122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flags missing, vital information for human attention.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Intake Triage Assistant  ·  PS01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Guardrails &amp; Human-in-the-Loop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2F8F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⊘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84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Zero-Diagnosis Mandate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651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to suggest urgency and department routing only — strictly prohibited from diagnosing patients.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2F8F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9659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984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“Uncertainty Override”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651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symptoms can't be mapped to a rule, or the uncertainty threshold is exceeded, it triggers immediate critical escalation to human staff.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2F8F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25196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270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Explainability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937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carries a log trace, so clinicians see exactly why a patient was routed to a specific department.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257800" cy="1965960"/>
          </a:xfrm>
          <a:prstGeom prst="roundRect">
            <a:avLst>
              <a:gd name="adj" fmla="val 4186"/>
            </a:avLst>
          </a:prstGeom>
          <a:solidFill>
            <a:srgbClr val="F2F8F7"/>
          </a:solidFill>
          <a:ln w="12700">
            <a:solidFill>
              <a:srgbClr val="DCE9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425196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2702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Fail-Safe Design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93776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prioritized over automation — the system defers to humans rather than hallucinate a decision.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Intake Triage Assistant  ·  PS01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937760"/>
            <a:ext cx="3657600" cy="3657600"/>
          </a:xfrm>
          <a:prstGeom prst="ellipse">
            <a:avLst/>
          </a:prstGeom>
          <a:solidFill>
            <a:srgbClr val="0A4F58"/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-1097280"/>
            <a:ext cx="3291840" cy="3291840"/>
          </a:xfrm>
          <a:prstGeom prst="ellipse">
            <a:avLst/>
          </a:prstGeom>
          <a:solidFill>
            <a:srgbClr val="0A4F5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84124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Future Roadmap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002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i="1" dirty="0">
                <a:solidFill>
                  <a:srgbClr val="CFE9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a scalable, safe, and compliant prototype that standardizes patient intake and reduces administrative burden.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051560" y="2880360"/>
            <a:ext cx="9829800" cy="0"/>
          </a:xfrm>
          <a:prstGeom prst="line">
            <a:avLst/>
          </a:prstGeom>
          <a:noFill/>
          <a:ln w="25400">
            <a:solidFill>
              <a:srgbClr val="1E5A61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77240" y="26060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37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EHR Integration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49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syncing with Electronic Health Records via FHIR/HL7.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26060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262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337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 / Wearable Data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749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pull objective vitals (pulse, SpO2) into the rule engine.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75320" y="260604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53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337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the Matrix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3749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FD4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triage coverage from 5 core complaints to the full hospital department catalog.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5257800"/>
            <a:ext cx="10607040" cy="0"/>
          </a:xfrm>
          <a:prstGeom prst="line">
            <a:avLst/>
          </a:prstGeom>
          <a:noFill/>
          <a:ln w="12700">
            <a:solidFill>
              <a:srgbClr val="1E5A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486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time.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questions — Q&amp;A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2026-09-05T03:26:42Z</dcterms:created>
  <dcterms:modified xsi:type="dcterms:W3CDTF">2026-09-05T03:26:42Z</dcterms:modified>
</cp:coreProperties>
</file>